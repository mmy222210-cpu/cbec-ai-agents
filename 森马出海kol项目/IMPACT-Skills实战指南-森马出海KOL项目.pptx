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0332720" cy="36576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4EC9F0"/>
                </a:solidFill>
                <a:latin typeface="Microsoft YaHei"/>
              </a:defRPr>
            </a:pPr>
            <a:r>
              <a:t>AI +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IMPACT  KOL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ECCA8"/>
                </a:solidFill>
                <a:latin typeface="Microsoft YaHei"/>
              </a:defRPr>
            </a:pPr>
            <a:r>
              <a:t>Claude Code Skills  x  IMPACT 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033272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2026-03-01   |           |       (Mai Jia)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F0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36576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548640" cy="41148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Claude Code Skills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            Skills       AI        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698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548640" cy="41148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IMPACT 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6   18   Skills                             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548640" cy="4114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99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18   Skills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Insight   Map   Plan   Activate   Convert   Track       Skills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59"/>
            <a:ext cx="10698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548640" cy="41148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6791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          :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     01          02 KOL       03          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98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800600"/>
            <a:ext cx="548640" cy="41148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         :        AI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                  Claude                      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10698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5669280"/>
            <a:ext cx="548640" cy="41148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605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Claude Code Skills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12064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Microsoft YaHei"/>
              </a:defRPr>
            </a:pPr>
            <a:r>
              <a:t>    Skills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Skills   SKILL.md               Claude        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             .claude/skills/     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                                      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                            AI       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                      AI            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1600"/>
              </a:spcBef>
              <a:spcAft>
                <a:spcPts val="200"/>
              </a:spcAft>
              <a:defRPr sz="1400" b="1">
                <a:solidFill>
                  <a:srgbClr val="2ECCA8"/>
                </a:solidFill>
                <a:latin typeface="Microsoft YaHei"/>
              </a:defRPr>
            </a:pPr>
            <a:r>
              <a:t>      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0D04E"/>
                </a:solidFill>
                <a:latin typeface="Microsoft YaHei"/>
              </a:defRPr>
            </a:pPr>
            <a:r>
              <a:t>  .claude/skills/kol-skills/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insight/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audience-analyzer/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EC9F0"/>
                </a:solidFill>
                <a:latin typeface="Microsoft YaHei"/>
              </a:defRPr>
            </a:pPr>
            <a:r>
              <a:t>        SKILL.md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ECCA8"/>
                </a:solidFill>
                <a:latin typeface="Microsoft YaHei"/>
              </a:defRPr>
            </a:pPr>
            <a:r>
              <a:t>        SKILL_CN.md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map/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plan/ | activate/ | convert/ | track/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05840"/>
            <a:ext cx="539496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29200" cy="10058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1.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Skills    IMPACT        18  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029200" cy="10058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2.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          SKILL.md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029200" cy="10058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3. AI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Claude          Skills               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5029200" cy="10058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4.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12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            KOL     /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IMPACT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Microsoft YaHei"/>
              </a:defRPr>
            </a:pPr>
            <a:r>
              <a:t>IMPACT                                                                       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73736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1508760"/>
            <a:ext cx="731520" cy="64008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C9F0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</a:t>
            </a:r>
            <a:br/>
            <a:r>
              <a:t>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F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1371600"/>
            <a:ext cx="173736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59" y="1508760"/>
            <a:ext cx="731520" cy="64008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CCA8"/>
                </a:solidFill>
                <a:latin typeface="Microsoft YaHei"/>
              </a:defRPr>
            </a:pPr>
            <a:r>
              <a:t>   KOL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KOL     </a:t>
            </a:r>
            <a:br/>
            <a:r>
              <a:t>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A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371600"/>
            <a:ext cx="173736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83479" y="1508760"/>
            <a:ext cx="731520" cy="6400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42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</a:t>
            </a:r>
            <a:br/>
            <a:r>
              <a:t>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42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1371600"/>
            <a:ext cx="173736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7999" y="1508760"/>
            <a:ext cx="731520" cy="64008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19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Activate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19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19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KOL  </a:t>
            </a:r>
            <a:br/>
            <a:r>
              <a:t>   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F08C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1371600"/>
            <a:ext cx="173736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32520" y="1508760"/>
            <a:ext cx="731520" cy="64008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Convert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4EC9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</a:t>
            </a:r>
            <a:br/>
            <a:r>
              <a:t> 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4EC9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1371600"/>
            <a:ext cx="173736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07040" y="1508760"/>
            <a:ext cx="731520" cy="64008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Track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6EF0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ROI</a:t>
            </a:r>
            <a:br/>
            <a:r>
              <a:t>           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4E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03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303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303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Activate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03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Brief          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Convert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303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ROI    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Track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5303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18   Skills     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38328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97280"/>
            <a:ext cx="1280160" cy="32004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F0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audience-analyzer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  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trend-spotter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      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4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YaHei"/>
              </a:defRPr>
            </a:pPr>
            <a:r>
              <a:t>niche-researcher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        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005840"/>
            <a:ext cx="338328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097280"/>
            <a:ext cx="914400" cy="32004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A8"/>
                </a:solidFill>
                <a:latin typeface="Microsoft YaHei"/>
              </a:defRPr>
            </a:pPr>
            <a:r>
              <a:t>   KOL 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55448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influencer-discovery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KOL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KOL         KOL   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10896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fit-scorer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KOL                 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466344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YaHei"/>
              </a:defRPr>
            </a:pPr>
            <a:r>
              <a:t>competitor-tracker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83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KOL                 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1005840"/>
            <a:ext cx="356616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55279" y="1097280"/>
            <a:ext cx="91440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42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54480"/>
            <a:ext cx="320040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campaign-planner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 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108960"/>
            <a:ext cx="320040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brief-generator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Brief  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Brief              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663440"/>
            <a:ext cx="320040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YaHei"/>
              </a:defRPr>
            </a:pPr>
            <a:r>
              <a:t>budget-optimizer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983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ROI   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18   Skills     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38328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97280"/>
            <a:ext cx="1463040" cy="32004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ACTIVATE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F08C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F08C"/>
                </a:solidFill>
                <a:latin typeface="Microsoft YaHei"/>
              </a:defRPr>
            </a:pPr>
            <a:r>
              <a:t>outreach-manager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KOL                     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content-reviewer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KOL                                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4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contract-helper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KOL                                  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005840"/>
            <a:ext cx="338328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097280"/>
            <a:ext cx="128016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CONVERT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4EC9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55448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4EC9"/>
                </a:solidFill>
                <a:latin typeface="Microsoft YaHei"/>
              </a:defRPr>
            </a:pPr>
            <a:r>
              <a:t>content-amplifier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KOL             Spark Ads     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10896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ugc-repurposer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UGC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KOL                        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4663440"/>
            <a:ext cx="301752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landing-optimizer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83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KOL                   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1005840"/>
            <a:ext cx="356616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55279" y="1097280"/>
            <a:ext cx="1005840" cy="32004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6EF0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54480"/>
            <a:ext cx="320040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EF0"/>
                </a:solidFill>
                <a:latin typeface="Microsoft YaHei"/>
              </a:defRPr>
            </a:pPr>
            <a:r>
              <a:t>performance-analyzer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KOL                        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108960"/>
            <a:ext cx="320040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roi-calculator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ROI  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ROI              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663440"/>
            <a:ext cx="3200400" cy="14173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report-generator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983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257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   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Skills       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30352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Microsoft YaHei"/>
              </a:defRPr>
            </a:pPr>
            <a:r>
              <a:t>Skills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493776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9F0"/>
                </a:solidFill>
                <a:latin typeface="Microsoft YaHei"/>
              </a:defRPr>
            </a:pPr>
            <a:r>
              <a:t>audience-analyzer + influencer-discovery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          KOL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493776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fit-scorer + competitor-tracker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          KOL     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83280"/>
            <a:ext cx="493776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Microsoft YaHei"/>
              </a:defRPr>
            </a:pPr>
            <a:r>
              <a:t>brief-generator + content-reviewer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Brief                    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493776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F08C"/>
                </a:solidFill>
                <a:latin typeface="Microsoft YaHei"/>
              </a:defRPr>
            </a:pPr>
            <a:r>
              <a:t>performance-analyzer + roi-calculator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      ROI  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20640"/>
            <a:ext cx="493776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4EC9"/>
                </a:solidFill>
                <a:latin typeface="Microsoft YaHei"/>
              </a:defRPr>
            </a:pPr>
            <a:r>
              <a:t>outreach-manager + contract-helper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440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  KOL           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005840"/>
            <a:ext cx="5212080" cy="52120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F08C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4E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87451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30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386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42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4E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55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67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      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239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KPI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17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D04E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371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932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052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 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18320" cy="36576"/>
          </a:xfrm>
          <a:prstGeom prst="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1463040" cy="41148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CH.04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A8"/>
                </a:solidFill>
                <a:latin typeface="Microsoft YaHei"/>
              </a:defRPr>
            </a:pPr>
            <a:r>
              <a:t>      2026          KOL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00400"/>
            <a:ext cx="822960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474720"/>
            <a:ext cx="1097280" cy="27432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564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   2026       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840480"/>
            <a:ext cx="1097280" cy="27432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8221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 18-35       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187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$50,000 KOL     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572000"/>
            <a:ext cx="1097280" cy="27432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5537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   17   KOL     5        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937760"/>
            <a:ext cx="1097280" cy="27432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919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IMPACT    I   M   A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Insight          :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48640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F0"/>
                </a:solidFill>
                <a:latin typeface="Microsoft YaHei"/>
              </a:defRPr>
            </a:pPr>
            <a:r>
              <a:t>   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64592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600200"/>
            <a:ext cx="822960" cy="32004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Z          (18-24)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TikTok        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508760"/>
            <a:ext cx="164592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40" y="1600200"/>
            <a:ext cx="822960" cy="32004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          (25-30)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Instagram+YouTube         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508760"/>
            <a:ext cx="164592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1600200"/>
            <a:ext cx="82296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      (30-35)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005840"/>
            <a:ext cx="502920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8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TikTok #MensFashion 580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44% Z     KOL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H&amp;M/Zara           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77%               (Vinted)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         +         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Microsoft YaHei"/>
              </a:defRPr>
            </a:pPr>
            <a:r>
              <a:t>            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434840"/>
            <a:ext cx="2011680" cy="16916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71600" y="4526280"/>
            <a:ext cx="1005840" cy="27432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/  /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      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TikTok+IG,         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4434840"/>
            <a:ext cx="2011680" cy="16916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20440" y="4526280"/>
            <a:ext cx="1005840" cy="27432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/   /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      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IG       +    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80" y="4434840"/>
            <a:ext cx="2011680" cy="16916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0" y="4526280"/>
            <a:ext cx="100584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/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42"/>
                </a:solidFill>
                <a:latin typeface="Microsoft YaHei"/>
              </a:defRPr>
            </a:pPr>
            <a:r>
              <a:t>      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4434840"/>
            <a:ext cx="2011680" cy="16916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18120" y="4526280"/>
            <a:ext cx="1005840" cy="27432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/   / 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F08C"/>
                </a:solidFill>
                <a:latin typeface="Microsoft YaHei"/>
              </a:defRPr>
            </a:pPr>
            <a:r>
              <a:t>      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0" y="4434840"/>
            <a:ext cx="2011680" cy="16916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966960" y="4526280"/>
            <a:ext cx="1005840" cy="27432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/  /   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4EC9"/>
                </a:solidFill>
                <a:latin typeface="Microsoft YaHei"/>
              </a:defRPr>
            </a:pPr>
            <a:r>
              <a:t>      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Map          : KOL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6576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A8"/>
                </a:solidFill>
                <a:latin typeface="Microsoft YaHei"/>
              </a:defRPr>
            </a:pPr>
            <a:r>
              <a:t>         (fit-scorer)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548640" cy="2286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548640" cy="2286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48840"/>
            <a:ext cx="548640" cy="2286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48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68880"/>
            <a:ext cx="548640" cy="22860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788920"/>
            <a:ext cx="548640" cy="22860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88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005840"/>
            <a:ext cx="685800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F08C"/>
                </a:solidFill>
                <a:latin typeface="Microsoft YaHei"/>
              </a:defRPr>
            </a:pPr>
            <a:r>
              <a:t>Tier 1 :          (4.35+)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08760"/>
            <a:ext cx="411480" cy="256032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5087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Charlie Boy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508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@charlie.dior1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508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TikTok 1.7M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5087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508760"/>
            <a:ext cx="731520" cy="256032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4.70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1856231"/>
            <a:ext cx="411480" cy="256032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85623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Tom Sheard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8562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@tomsheard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85623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TikTok 1.2M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85623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1856231"/>
            <a:ext cx="731520" cy="256032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4.65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203703"/>
            <a:ext cx="411480" cy="256032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220370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Tim Dessaint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20370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@timdessaint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2037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YouTube 1.1M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20370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/ 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2203703"/>
            <a:ext cx="731520" cy="256032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4.60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2551175"/>
            <a:ext cx="411480" cy="256032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255117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D'nieccio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55117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@dnieccio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55117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TikTok 850K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55117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2551175"/>
            <a:ext cx="731520" cy="256032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4.45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2898647"/>
            <a:ext cx="411480" cy="256032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289864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Rowan Row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89864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@rowanrow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28986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YouTube 1.8M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898647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0" y="2898647"/>
            <a:ext cx="731520" cy="256032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4.35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749039"/>
            <a:ext cx="530352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Microsoft YaHei"/>
              </a:defRPr>
            </a:pPr>
            <a:r>
              <a:t>      ($50K)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" y="4251960"/>
            <a:ext cx="1097280" cy="256032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TikTok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42519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2519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F0"/>
                </a:solidFill>
                <a:latin typeface="Microsoft YaHei"/>
              </a:defRPr>
            </a:pPr>
            <a:r>
              <a:t>$22,500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39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+     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4617720"/>
            <a:ext cx="1097280" cy="256032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Instagram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03120" y="46177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4617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A8"/>
                </a:solidFill>
                <a:latin typeface="Microsoft YaHei"/>
              </a:defRPr>
            </a:pPr>
            <a:r>
              <a:t>$15,000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39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+     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4983480"/>
            <a:ext cx="1097280" cy="256032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YouTube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49834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4983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42"/>
                </a:solidFill>
                <a:latin typeface="Microsoft YaHei"/>
              </a:defRPr>
            </a:pPr>
            <a:r>
              <a:t>$7,500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4983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+     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5349240"/>
            <a:ext cx="1097280" cy="256032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/ 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3492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5349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F08C"/>
                </a:solidFill>
                <a:latin typeface="Microsoft YaHei"/>
              </a:defRPr>
            </a:pPr>
            <a:r>
              <a:t>$5,000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49039" y="5349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Spark Ads +     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3749039"/>
            <a:ext cx="52120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4EC9"/>
                </a:solidFill>
                <a:latin typeface="Microsoft YaHei"/>
              </a:defRPr>
            </a:pPr>
            <a:r>
              <a:t>           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251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vs       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92640" y="4251960"/>
            <a:ext cx="1097280" cy="22860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TikTok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4251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D04E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4617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/      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92640" y="4617720"/>
            <a:ext cx="1097280" cy="2286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TikTok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0" y="46177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D04E"/>
                </a:solidFill>
                <a:latin typeface="Microsoft YaHei"/>
              </a:defRPr>
            </a:pPr>
            <a:r>
              <a:t> 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49834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+       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92640" y="4983480"/>
            <a:ext cx="1097280" cy="2286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TikTok/YT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81360" y="49834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D04E"/>
                </a:solidFill>
                <a:latin typeface="Microsoft YaHei"/>
              </a:defRPr>
            </a:pPr>
            <a:r>
              <a:t> 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5349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  /      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692640" y="5349240"/>
            <a:ext cx="1097280" cy="2286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YouTube/IG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1360" y="53492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D04E"/>
                </a:solidFill>
                <a:latin typeface="Microsoft YaHei"/>
              </a:defRPr>
            </a:pPr>
            <a:r>
              <a:t>  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715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Lookbook /     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92640" y="5715000"/>
            <a:ext cx="1097280" cy="22860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Instagram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81360" y="571500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D04E"/>
                </a:solidFill>
                <a:latin typeface="Microsoft YaHei"/>
              </a:defRPr>
            </a:pPr>
            <a:r>
              <a:t> 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Activate          :   Charlie Boy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411480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F08C"/>
                </a:solidFill>
                <a:latin typeface="Microsoft YaHei"/>
              </a:defRPr>
            </a:pPr>
            <a:r>
              <a:t>KOL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087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Charlie Boy (Charles Keita)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7451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@charlie.dior1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7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4027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TikTok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0603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1.7M     / 60.2M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7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97179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264K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YouTube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33755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89K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703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GOLDEN TRIDENT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069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vs         /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434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18-30        /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A8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800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4.70/5.00 (    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"     vs   "              "      "  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0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GOLDEN TRIDENT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     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1005840"/>
            <a:ext cx="640080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4EC9"/>
                </a:solidFill>
                <a:latin typeface="Microsoft YaHei"/>
              </a:defRPr>
            </a:pPr>
            <a:r>
              <a:t>         (outreach-manager)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1508760"/>
            <a:ext cx="603504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03520" y="1554480"/>
            <a:ext cx="1097280" cy="2286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5361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Charlie – Love your Affordable vs. Luxury series – Collaboration with SEMIR?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+          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0" y="2313432"/>
            <a:ext cx="603504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03520" y="2359151"/>
            <a:ext cx="1097280" cy="2286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4086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I've been following your content... your "Affordable vs. Luxury" comparison videos are genuinely impressive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3118103"/>
            <a:ext cx="603504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03520" y="3163823"/>
            <a:ext cx="1097280" cy="2286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14553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SEMIR – 30 years heritage, 4,000+ stores, quality affordable fashion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438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3922776"/>
            <a:ext cx="603504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03520" y="3968496"/>
            <a:ext cx="1097280" cy="22860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950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2-3 TikTok + 1 IG Reel, full creative freedom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2428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    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12080" y="4727448"/>
            <a:ext cx="603504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03520" y="4773168"/>
            <a:ext cx="1097280" cy="22860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754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Compensation + SS26 collection + discount code + revenue share + ambassador potential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047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+    +    +    +     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12080" y="5532120"/>
            <a:ext cx="603504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303520" y="5577840"/>
            <a:ext cx="1097280" cy="22860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Would you be interested in learning more?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8521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           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642823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D04E"/>
                </a:solidFill>
                <a:latin typeface="Microsoft YaHei"/>
              </a:defRPr>
            </a:pPr>
            <a:r>
              <a:t>        : Day 3-4 &gt; Day 7-8 &gt; Day 14 (   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 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097280"/>
            <a:ext cx="2286000" cy="27432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Insight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01-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Skills: audience-analyzer</a:t>
            </a:r>
            <a:br/>
            <a:r>
              <a:t>trend-spotter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9  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4             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SWOT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097280"/>
            <a:ext cx="2286000" cy="27432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Map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02- KOL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A8"/>
                </a:solidFill>
                <a:latin typeface="Microsoft YaHei"/>
              </a:defRPr>
            </a:pPr>
            <a:r>
              <a:t>Skills: influencer-discovery</a:t>
            </a:r>
            <a:br/>
            <a:r>
              <a:t>fit-scorer</a:t>
            </a:r>
            <a:br/>
            <a:r>
              <a:t>competitor-tracker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17   KOL  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5           (  1-5)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$50K    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05840"/>
            <a:ext cx="34747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097280"/>
            <a:ext cx="228600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Activate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03-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C42"/>
                </a:solidFill>
                <a:latin typeface="Microsoft YaHei"/>
              </a:defRPr>
            </a:pPr>
            <a:r>
              <a:t>Skills: outreach-manager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(  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+DM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3          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Gmail        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D04E"/>
                </a:solidFill>
                <a:latin typeface="Microsoft YaHei"/>
              </a:defRPr>
            </a:pPr>
            <a:r>
              <a:t>        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80560"/>
            <a:ext cx="164592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F0"/>
                </a:solidFill>
                <a:latin typeface="Microsoft YaHei"/>
              </a:defRPr>
            </a:pPr>
            <a:r>
              <a:t>500  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29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BB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4480560"/>
            <a:ext cx="164592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A8"/>
                </a:solidFill>
                <a:latin typeface="Microsoft YaHei"/>
              </a:defRPr>
            </a:pPr>
            <a:r>
              <a:t>&gt;4%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29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BB"/>
                </a:solidFill>
                <a:latin typeface="Microsoft YaHei"/>
              </a:defRPr>
            </a:pPr>
            <a:r>
              <a:t>         3.1%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480560"/>
            <a:ext cx="164592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42"/>
                </a:solidFill>
                <a:latin typeface="Microsoft YaHei"/>
              </a:defRPr>
            </a:pPr>
            <a:r>
              <a:t>500  -1000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029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BB"/>
                </a:solidFill>
                <a:latin typeface="Microsoft YaHei"/>
              </a:defRPr>
            </a:pPr>
            <a:r>
              <a:t>TikTok   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480560"/>
            <a:ext cx="164592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F08C"/>
                </a:solidFill>
                <a:latin typeface="Microsoft YaHei"/>
              </a:defRPr>
            </a:pPr>
            <a:r>
              <a:t>&gt;3:1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029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BB"/>
                </a:solidFill>
                <a:latin typeface="Microsoft YaHei"/>
              </a:defRPr>
            </a:pPr>
            <a:r>
              <a:t>          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480560"/>
            <a:ext cx="164592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4EC9"/>
                </a:solidFill>
                <a:latin typeface="Microsoft YaHei"/>
              </a:defRPr>
            </a:pPr>
            <a:r>
              <a:t>+200%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029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BB"/>
                </a:solidFill>
                <a:latin typeface="Microsoft YaHei"/>
              </a:defRPr>
            </a:pPr>
            <a:r>
              <a:t>  "SEMIR"    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4480560"/>
            <a:ext cx="1645920" cy="77724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45262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KOL  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6EF0"/>
                </a:solidFill>
                <a:latin typeface="Microsoft YaHei"/>
              </a:defRPr>
            </a:pPr>
            <a:r>
              <a:t>&gt;40%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029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BB"/>
                </a:solidFill>
                <a:latin typeface="Microsoft YaHei"/>
              </a:defRPr>
            </a:pPr>
            <a:r>
              <a:t>                  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18320" cy="36576"/>
          </a:xfrm>
          <a:prstGeom prst="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1463040" cy="41148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CH.05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A8"/>
                </a:solidFill>
                <a:latin typeface="Microsoft YaHei"/>
              </a:defRPr>
            </a:pPr>
            <a:r>
              <a:t>         AI (Claude)               KOL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00400"/>
            <a:ext cx="8229600" cy="36576"/>
          </a:xfrm>
          <a:prstGeom prst="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474720"/>
            <a:ext cx="1097280" cy="27432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Claude Code               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1097280" cy="27432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22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Skills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822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18   KOL Skills + 29            +     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06240"/>
            <a:ext cx="109728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187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              17   KOL       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572000"/>
            <a:ext cx="1097280" cy="27432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53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53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             Gmail             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937760"/>
            <a:ext cx="1097280" cy="27432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19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19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MD    +        +     PPT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1:         + Skills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30352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F0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4937760" cy="8229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          : /model claude-opus-4-6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 AI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4937760" cy="8229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     Skills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.claude/skills/              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4937760" cy="8229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      find-skills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vercel-labs/skills          Skills    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4937760" cy="8229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        npx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Node.js   git clone       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66360"/>
            <a:ext cx="4937760" cy="8229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F0"/>
                </a:solidFill>
                <a:latin typeface="Microsoft YaHei"/>
              </a:defRPr>
            </a:pPr>
            <a:r>
              <a:t>           GitHub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lemonhall fork        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005840"/>
            <a:ext cx="521208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8"/>
                </a:solidFill>
                <a:latin typeface="Microsoft YaHei"/>
              </a:defRPr>
            </a:pPr>
            <a:r>
              <a:t>Skills     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508760"/>
            <a:ext cx="4846320" cy="12801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A8"/>
                </a:solidFill>
                <a:latin typeface="Microsoft YaHei"/>
              </a:defRPr>
            </a:pPr>
            <a:r>
              <a:t>18   KOL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IMPACT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: lemonhall/influencer-marketing-claude-skills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926080"/>
            <a:ext cx="4846320" cy="12801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29        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    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: coreyhaines31/marketingskills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43400"/>
            <a:ext cx="4846320" cy="12801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F08C"/>
                </a:solidFill>
                <a:latin typeface="Microsoft YaHei"/>
              </a:defRPr>
            </a:pPr>
            <a:r>
              <a:t>18   SKILL_CN.md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:                      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943600"/>
            <a:ext cx="4846320" cy="9144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4E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63093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AI                   git clone         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2:         +  KOL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698480" cy="2468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F0"/>
                </a:solidFill>
                <a:latin typeface="Microsoft YaHei"/>
              </a:defRPr>
            </a:pPr>
            <a:r>
              <a:t>Insight   :   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4846320" cy="9144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554480"/>
            <a:ext cx="731520" cy="2286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"                     18-35          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             IMPACT   audience-analyzer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F0"/>
                </a:solidFill>
                <a:latin typeface="Microsoft YaHei"/>
              </a:defRPr>
            </a:pPr>
            <a:r>
              <a:t>&gt;&gt;&gt;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029200" cy="9144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914400" cy="2286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Task Agent       5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   01-          .md (9      292 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10698480" cy="26517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8"/>
                </a:solidFill>
                <a:latin typeface="Microsoft YaHei"/>
              </a:defRPr>
            </a:pPr>
            <a:r>
              <a:t>Map   : KOL     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60520"/>
            <a:ext cx="4846320" cy="9144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206240"/>
            <a:ext cx="731520" cy="2286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"                      kol              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Claude    3    map Skills:  influencer-discovery, fit-scorer, competitor-tracker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A8"/>
                </a:solidFill>
                <a:latin typeface="Microsoft YaHei"/>
              </a:defRPr>
            </a:pPr>
            <a:r>
              <a:t>&gt;&gt;&gt;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60520"/>
            <a:ext cx="5029200" cy="9144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4206240"/>
            <a:ext cx="914400" cy="2286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Task Agent    25   KOL       /    /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   02-KOL         .md (17   KOL  5       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212080"/>
            <a:ext cx="10332720" cy="91440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257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D04E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                 Skills          AI                                                                          AI      Skills      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3:         +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698480" cy="5303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200400" cy="21031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280160"/>
            <a:ext cx="731520" cy="27432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61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   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"                   ...          ...             active   skills"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Claude    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outreach-manager SKILL_CN.md            KOL                      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291840" cy="21031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280160"/>
            <a:ext cx="731520" cy="27432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261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Claude  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Task Agent      Charlie Boy         :   Charles Keita     : charleskeita24@gmail.com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      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         +    +           + CTA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188720"/>
            <a:ext cx="3474720" cy="21031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1280160"/>
            <a:ext cx="731520" cy="27432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   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"          Jia       mmy222210@gmail.com                   google        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A8"/>
                </a:solidFill>
                <a:latin typeface="Microsoft YaHei"/>
              </a:defRPr>
            </a:pPr>
            <a:r>
              <a:t>Claude  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   Gmail     URL 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F0"/>
                </a:solidFill>
                <a:latin typeface="Microsoft YaHei"/>
              </a:defRPr>
            </a:pPr>
            <a:r>
              <a:t>&gt;&gt;&gt;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A8"/>
                </a:solidFill>
                <a:latin typeface="Microsoft YaHei"/>
              </a:defRPr>
            </a:pPr>
            <a:r>
              <a:t>&gt;&gt;&gt;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4E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023360"/>
            <a:ext cx="2468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5840" y="4114800"/>
            <a:ext cx="1463040" cy="2286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Insight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01-          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9    | 292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C9F0"/>
                </a:solidFill>
                <a:latin typeface="Microsoft YaHei"/>
              </a:defRPr>
            </a:pPr>
            <a:r>
              <a:t>     /     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4023360"/>
            <a:ext cx="2468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11880" y="4114800"/>
            <a:ext cx="1463040" cy="2286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Map 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02- KOL         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11    | 432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A8"/>
                </a:solidFill>
                <a:latin typeface="Microsoft YaHei"/>
              </a:defRPr>
            </a:pPr>
            <a:r>
              <a:t>     /     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023360"/>
            <a:ext cx="2468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17920" y="4114800"/>
            <a:ext cx="1463040" cy="2286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Activate 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03- CharliBoy         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7    | 260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8C42"/>
                </a:solidFill>
                <a:latin typeface="Microsoft YaHei"/>
              </a:defRPr>
            </a:pPr>
            <a:r>
              <a:t>     /     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4023360"/>
            <a:ext cx="2468880" cy="201168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23960" y="4114800"/>
            <a:ext cx="1463040" cy="22860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00-          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456        | 5693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F08C"/>
                </a:solidFill>
                <a:latin typeface="Microsoft YaHei"/>
              </a:defRPr>
            </a:pPr>
            <a:r>
              <a:t>     /    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     :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F0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698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97280"/>
            <a:ext cx="914400" cy="256032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npx/Node.js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53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E5E"/>
                </a:solidFill>
                <a:latin typeface="Microsoft YaHei"/>
              </a:defRPr>
            </a:pPr>
            <a:r>
              <a:t>    : Skills              npm/npx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:          git clone    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10698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914400" cy="256032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GitHub 404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67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E5E"/>
                </a:solidFill>
                <a:latin typeface="Microsoft YaHei"/>
              </a:defRPr>
            </a:pPr>
            <a:r>
              <a:t>    :               aaron-he-zhu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:                   lemonhall fork     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10698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926080"/>
            <a:ext cx="914400" cy="256032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82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E5E"/>
                </a:solidFill>
                <a:latin typeface="Microsoft YaHei"/>
              </a:defRPr>
            </a:pPr>
            <a:r>
              <a:t>    : Sub-agent    Write/Bash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:                      (  vs     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10698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840479"/>
            <a:ext cx="914400" cy="256032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94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API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9651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E5E"/>
                </a:solidFill>
                <a:latin typeface="Microsoft YaHei"/>
              </a:defRPr>
            </a:pPr>
            <a:r>
              <a:t>    :                API quota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94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:            /            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10698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754879"/>
            <a:ext cx="914400" cy="256032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PDF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109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E5E"/>
                </a:solidFill>
                <a:latin typeface="Microsoft YaHei"/>
              </a:defRPr>
            </a:pPr>
            <a:r>
              <a:t>    : PDF           /poppler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091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:       B:   README.md + SKILL.md          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669279"/>
            <a:ext cx="914400" cy="256032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623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25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E5E"/>
                </a:solidFill>
                <a:latin typeface="Microsoft YaHei"/>
              </a:defRPr>
            </a:pPr>
            <a:r>
              <a:t>    :                         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6235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F08C"/>
                </a:solidFill>
                <a:latin typeface="Microsoft YaHei"/>
              </a:defRPr>
            </a:pPr>
            <a:r>
              <a:t>    :                Skills  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       AI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737360" cy="4389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822960" cy="45720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F0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  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   claude-opus-4-6</a:t>
            </a:r>
            <a:br/>
            <a:r>
              <a:t>   Skills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097280"/>
            <a:ext cx="1737360" cy="4389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1234440"/>
            <a:ext cx="822960" cy="45720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A8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48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     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603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   KOL Skills (18)</a:t>
            </a:r>
            <a:br/>
            <a:r>
              <a:t>        Skills (29)</a:t>
            </a:r>
            <a:br/>
            <a:r>
              <a:t>   SKILL_CN.md (18)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A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097280"/>
            <a:ext cx="1737360" cy="4389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234440"/>
            <a:ext cx="822960" cy="4572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48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603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         SKILL.md</a:t>
            </a:r>
            <a:br/>
            <a:r>
              <a:t>                  </a:t>
            </a:r>
            <a:br/>
            <a:r>
              <a:t>     WebSearch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97280"/>
            <a:ext cx="1737360" cy="4389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1234440"/>
            <a:ext cx="822960" cy="45720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F08C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   KOL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603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      SKILL.md</a:t>
            </a:r>
            <a:br/>
            <a:r>
              <a:t>         </a:t>
            </a:r>
            <a:br/>
            <a:r>
              <a:t>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F08C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097280"/>
            <a:ext cx="1737360" cy="4389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95360" y="1234440"/>
            <a:ext cx="822960" cy="45720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4EC9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148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5603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      SKILL.md</a:t>
            </a:r>
            <a:br/>
            <a:r>
              <a:t>          </a:t>
            </a:r>
            <a:br/>
            <a:r>
              <a:t>     Gmail URL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4EC9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1097280"/>
            <a:ext cx="1737360" cy="4389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15600" y="1234440"/>
            <a:ext cx="822960" cy="45720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EF0"/>
                </a:solidFill>
                <a:latin typeface="Microsoft YaHei"/>
              </a:defRPr>
            </a:pPr>
            <a:r>
              <a:t>  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48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56032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   MD    (4  )</a:t>
            </a:r>
            <a:br/>
            <a:r>
              <a:t>     JSONL</a:t>
            </a:r>
            <a:br/>
            <a:r>
              <a:t>     PPT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D04E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AI                               Skills              Claude                                                          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CH.06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 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36576"/>
          </a:xfrm>
          <a:prstGeom prst="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0352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234439"/>
            <a:ext cx="1371600" cy="32004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Engagement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234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(  +   +  ) /     x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30352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68879"/>
            <a:ext cx="1371600" cy="32004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68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   / (   / 1000)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30352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137160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   /    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530352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937760"/>
            <a:ext cx="1371600" cy="32004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    x     CPM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97280"/>
            <a:ext cx="52120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1234439"/>
            <a:ext cx="1371600" cy="320040"/>
          </a:xfrm>
          <a:prstGeom prst="round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234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(   -   ) /    x 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331720"/>
            <a:ext cx="52120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468879"/>
            <a:ext cx="1371600" cy="320040"/>
          </a:xfrm>
          <a:prstGeom prst="roundRect">
            <a:avLst/>
          </a:prstGeom>
          <a:solidFill>
            <a:srgbClr val="A06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468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80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      /     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566160"/>
            <a:ext cx="52120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703320"/>
            <a:ext cx="1371600" cy="320040"/>
          </a:xfrm>
          <a:prstGeom prst="roundRect">
            <a:avLst/>
          </a:prstGeom>
          <a:solidFill>
            <a:srgbClr val="F0D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ROAS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   /     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800600"/>
            <a:ext cx="52120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4937760"/>
            <a:ext cx="1371600" cy="320040"/>
          </a:xfrm>
          <a:prstGeom prst="roundRect">
            <a:avLst/>
          </a:prstGeom>
          <a:solidFill>
            <a:srgbClr val="F0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49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:    /    x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Microsoft YaHei"/>
              </a:defRPr>
            </a:pPr>
            <a:r>
              <a:t>     IMPACT           kol-skills/README.md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0332720" cy="36576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9F0"/>
                </a:solidFill>
                <a:latin typeface="Microsoft YaHei"/>
              </a:defRPr>
            </a:pPr>
            <a:r>
              <a:t>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32720" cy="36576"/>
          </a:xfrm>
          <a:prstGeom prst="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3272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697479"/>
            <a:ext cx="457200" cy="411480"/>
          </a:xfrm>
          <a:prstGeom prst="round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Skills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IMPACT   18   Skills      KOL                       SKILL.md           Claude        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033272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611879"/>
            <a:ext cx="457200" cy="411480"/>
          </a:xfrm>
          <a:prstGeom prst="roundRect">
            <a:avLst/>
          </a:prstGeom>
          <a:solidFill>
            <a:srgbClr val="2EC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5204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Claude            WebSearch                                                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1033272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4526280"/>
            <a:ext cx="457200" cy="4114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   Insight   Map   Activate 3              4        +             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5440680"/>
            <a:ext cx="457200" cy="411480"/>
          </a:xfrm>
          <a:prstGeom prst="roundRect">
            <a:avLst/>
          </a:prstGeom>
          <a:solidFill>
            <a:srgbClr val="4E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Microsoft YaHei"/>
              </a:defRPr>
            </a:pPr>
            <a:r>
              <a:t>   IMPACT             KOL                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943600"/>
            <a:ext cx="10332720" cy="36576"/>
          </a:xfrm>
          <a:prstGeom prst="rect">
            <a:avLst/>
          </a:prstGeom>
          <a:solidFill>
            <a:srgbClr val="F04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      (Mai Jia)  |            |  2026-03-01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F0"/>
                </a:solidFill>
                <a:latin typeface="Microsoft YaHei"/>
              </a:defRPr>
            </a:pPr>
            <a:r>
              <a:t>Powered by Claude Code (Opus 4.6) + IMPACT Framework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AABB"/>
                </a:solidFill>
                <a:latin typeface="Microsoft YaHe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