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Arial"/>
              </a:defRPr>
            </a:pPr>
            <a:r>
              <a:t>CLAUDE CODE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KOL Skills 实战指南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BDBD"/>
                </a:solidFill>
                <a:latin typeface="Arial"/>
              </a:defRPr>
            </a:pPr>
            <a:r>
              <a:t>以森马出海欧洲 KOL 项目为例，演示如何调用 IMPACT 框架 Skills 完成全流程营销工作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  <a:latin typeface="Arial"/>
              </a:defRPr>
            </a:pPr>
            <a:r>
              <a:t>森马集团 · 海外运营部  | 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目录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0" cy="54864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什么是 Claude Code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731520" cy="54864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IMPACT 框架 — 18 个 KOL Skills 全景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731520" cy="5486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实战：Insight 阶段 — 欧洲受众分析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40"/>
            <a:ext cx="731520" cy="54864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实战：Map 阶段 — 高价值 KOL 发现与排名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731520" cy="548640"/>
          </a:xfrm>
          <a:prstGeom prst="rect">
            <a:avLst/>
          </a:prstGeom>
          <a:solidFill>
            <a:srgbClr val="EE5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00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实战：Activate 阶段 — 合作邮件外联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532120"/>
            <a:ext cx="731520" cy="54864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成果总结与后续计划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 什么是 Claude Code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DBDBD"/>
                </a:solidFill>
                <a:latin typeface="Arial"/>
              </a:defRPr>
            </a:pPr>
            <a:r>
              <a:t>Skills 是存放在 .claude/skills/ 目录下的 SKILL.md 文件，作为提示词模板指导 Claude 完成特定任务。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560320" cy="73152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33472"/>
            <a:ext cx="256032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A"/>
                </a:solidFill>
                <a:latin typeface="Arial"/>
              </a:defRPr>
            </a:pPr>
            <a:r>
              <a:t>SKILL.md 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73552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每个 Skill 是一个 Markdown 文档</a:t>
            </a:r>
            <a:br/>
            <a:r>
              <a:t>包含触发条件、执行步骤、</a:t>
            </a:r>
            <a:br/>
            <a:r>
              <a:t>输出模板和示例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560320"/>
            <a:ext cx="2560320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633472"/>
            <a:ext cx="256032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Arial"/>
              </a:defRPr>
            </a:pPr>
            <a:r>
              <a:t>目录即分类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73552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通过文件夹结构组织 Skills</a:t>
            </a:r>
            <a:br/>
            <a:r>
              <a:t>如 kol-skills/map/ 下存放</a:t>
            </a:r>
            <a:br/>
            <a:r>
              <a:t>所有 KOL 发现相关技能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256032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633472"/>
            <a:ext cx="256032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按需调用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73552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用户描述任务后</a:t>
            </a:r>
            <a:br/>
            <a:r>
              <a:t>Claude 自动匹配或</a:t>
            </a:r>
            <a:br/>
            <a:r>
              <a:t>手动指定调用对应 Skill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560320"/>
            <a:ext cx="2560320" cy="73152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633472"/>
            <a:ext cx="256032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8163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AC84"/>
                </a:solidFill>
                <a:latin typeface="Arial"/>
              </a:defRPr>
            </a:pPr>
            <a:r>
              <a:t>可组合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73552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多个 Skills 可串联使用</a:t>
            </a:r>
            <a:br/>
            <a:r>
              <a:t>如 发现 → 评分 → 外联</a:t>
            </a:r>
            <a:br/>
            <a:r>
              <a:t>形成完整工作流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 IMPACT 框架 — 18 个 KOL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A"/>
                </a:solidFill>
                <a:latin typeface="Arial"/>
              </a:defRPr>
            </a:pPr>
            <a:r>
              <a:t>Insight</a:t>
            </a:r>
            <a:br/>
            <a:r>
              <a:t>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audience-analyzer</a:t>
            </a:r>
            <a:br/>
            <a:r>
              <a:t>niche-researcher</a:t>
            </a:r>
            <a:br/>
            <a:r>
              <a:t>trend-spotter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926080" y="1645920"/>
            <a:ext cx="731520" cy="73152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D3"/>
                </a:solidFill>
                <a:latin typeface="Arial"/>
              </a:defRPr>
            </a:pPr>
            <a:r>
              <a:t>Map</a:t>
            </a:r>
            <a:br/>
            <a:r>
              <a:t>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influencer-discovery</a:t>
            </a:r>
            <a:br/>
            <a:r>
              <a:t>fit-scorer</a:t>
            </a:r>
            <a:br/>
            <a:r>
              <a:t>competitor-tracker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1645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Arial"/>
              </a:defRPr>
            </a:pPr>
            <a:r>
              <a:t>Plan</a:t>
            </a:r>
            <a:br/>
            <a:r>
              <a:t>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campaign-planner</a:t>
            </a:r>
            <a:br/>
            <a:r>
              <a:t>budget-optimizer</a:t>
            </a:r>
            <a:br/>
            <a:r>
              <a:t>brief-generator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1645920"/>
            <a:ext cx="731520" cy="731520"/>
          </a:xfrm>
          <a:prstGeom prst="ellipse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AC84"/>
                </a:solidFill>
                <a:latin typeface="Arial"/>
              </a:defRPr>
            </a:pPr>
            <a:r>
              <a:t>Activate</a:t>
            </a:r>
            <a:br/>
            <a:r>
              <a:t>激活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outreach-manager</a:t>
            </a:r>
            <a:br/>
            <a:r>
              <a:t>content-reviewer</a:t>
            </a:r>
            <a:br/>
            <a:r>
              <a:t>contract-helper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0" y="1645920"/>
            <a:ext cx="731520" cy="731520"/>
          </a:xfrm>
          <a:prstGeom prst="ellipse">
            <a:avLst/>
          </a:prstGeom>
          <a:solidFill>
            <a:srgbClr val="EE5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E5A6F"/>
                </a:solidFill>
                <a:latin typeface="Arial"/>
              </a:defRPr>
            </a:pPr>
            <a:r>
              <a:t>Convert</a:t>
            </a:r>
            <a:br/>
            <a:r>
              <a:t>转化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content-amplifier</a:t>
            </a:r>
            <a:br/>
            <a:r>
              <a:t>landing-optimizer</a:t>
            </a:r>
            <a:br/>
            <a:r>
              <a:t>ugc-repurposer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0" y="1645920"/>
            <a:ext cx="731520" cy="7315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  <a:latin typeface="Arial"/>
              </a:defRPr>
            </a:pPr>
            <a:r>
              <a:t>Track</a:t>
            </a:r>
            <a:br/>
            <a:r>
              <a:t>追踪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4747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performance-analyzer</a:t>
            </a:r>
            <a:br/>
            <a:r>
              <a:t>report-generator</a:t>
            </a:r>
            <a:br/>
            <a:r>
              <a:t>roi-calculator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Arial"/>
              </a:defRPr>
            </a:pPr>
            <a:r>
              <a:t>每个阶段 3 个 Skills，覆盖 KOL 营销从洞察到追踪的完整链路。每个 Skill 包含执行步骤、输出模板和行业基准。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实战案例：森马出海欧洲 KOL 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D3"/>
                </a:solidFill>
                <a:latin typeface="Arial"/>
              </a:defRPr>
            </a:pPr>
            <a:r>
              <a:t>品牌：森马集团 SEMIR  |  市场：欧洲 18-35 岁男性  |  产品：2026 春夏男装  |  预算：$50,000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A"/>
                </a:solidFill>
                <a:latin typeface="Arial"/>
              </a:defRPr>
            </a:pPr>
            <a:r>
              <a:t>Insight 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欧洲受众分析报告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调用 audience-analyzer</a:t>
            </a:r>
            <a:br/>
            <a:r>
              <a:t>+ trend-spotter 框架</a:t>
            </a:r>
            <a:br/>
            <a:br/>
            <a:r>
              <a:t>产出 9 章节完整报告</a:t>
            </a:r>
            <a:br/>
            <a:r>
              <a:t>覆盖 4 个子区域策略</a:t>
            </a:r>
            <a:br/>
            <a:r>
              <a:t>竞争格局 SWOT 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D3"/>
                </a:solidFill>
                <a:latin typeface="Arial"/>
              </a:defRPr>
            </a:pPr>
            <a:r>
              <a:t>Map 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KOL 发现与排名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调用 influencer-discovery</a:t>
            </a:r>
            <a:br/>
            <a:r>
              <a:t>+ fit-scorer + competitor-tracker</a:t>
            </a:r>
            <a:br/>
            <a:br/>
            <a:r>
              <a:t>发现 17 位欧洲 KOL</a:t>
            </a:r>
            <a:br/>
            <a:r>
              <a:t>5 维度加权评分模型</a:t>
            </a:r>
            <a:br/>
            <a:r>
              <a:t>3 层级优先级排名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Arial"/>
              </a:defRPr>
            </a:pPr>
            <a:r>
              <a:t>Activate 阶段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合作邮件外联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39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调用 outreach-manager 框架</a:t>
            </a:r>
            <a:br/>
            <a:br/>
            <a:r>
              <a:t>个性化调研 6 要素</a:t>
            </a:r>
            <a:br/>
            <a:r>
              <a:t>英文正式邮件 + 私信版</a:t>
            </a:r>
            <a:br/>
            <a:r>
              <a:t>3 封跟进邮件序列</a:t>
            </a:r>
            <a:br/>
            <a:r>
              <a:t>Gmail 自动发送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 Insight 阶段 — 欧洲受众分析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A"/>
                </a:solidFill>
                <a:latin typeface="Arial"/>
              </a:defRPr>
            </a:pPr>
            <a:r>
              <a:t>操作流程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1. 用户输入："为森马春季男装在欧洲 18-35 岁男性受众提供分析"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Arial"/>
              </a:defRPr>
            </a:pPr>
            <a:r>
              <a:t>2. Claude 参考 audience-analyzer + trend-spotter Skill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3. 调用 Task Agent 进行多维度网络调研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Arial"/>
              </a:defRPr>
            </a:pPr>
            <a:r>
              <a:t>4. 按 Skill 模板结构化输出完整分析报告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Arial"/>
              </a:defRPr>
            </a:pPr>
            <a:r>
              <a:t>产出：01-欧洲受众分析报告.md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三大细分群体（Z世代 / 千禧一代 / 轻熟职场）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2026 SS 趋势匹配（宽松廓形 / 自然色系 / 功能面料）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四大子区域策略（西欧35% / 南欧10% / 北欧5% / 东欧5%）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5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竞争格局：H&amp;M/Zara 上移留出平价空白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平台优先级：TikTok 45% &gt; Instagram 30% &gt; YouTube 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关键数据：TikTok #MensFashion 580亿播放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▸ KOL 层级策略：头部2-3位 / 中腰部5-8位 / 微型10-15位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029200" cy="210312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Arial"/>
              </a:defRPr>
            </a:pPr>
            <a:r>
              <a:t>关键发现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H&amp;M 和 Zara 正在向中高端移动，</a:t>
            </a:r>
            <a:br/>
            <a:r>
              <a:t>在"平价+品质"区间留下市场空白。</a:t>
            </a:r>
            <a:br/>
            <a:br/>
            <a:r>
              <a:t>这正是森马的最佳切入点——</a:t>
            </a:r>
            <a:br/>
            <a:r>
              <a:t>以更低价格提供可比肩的品质。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 Map 阶段 — KOL 发现与排名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Arial"/>
              </a:defRPr>
            </a:pPr>
            <a:r>
              <a:t>fit-scorer 评分模型（5 维度加权）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受众匹配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95728"/>
            <a:ext cx="2667000" cy="32004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248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品牌契合 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71216"/>
            <a:ext cx="2133599" cy="3200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71216"/>
            <a:ext cx="1950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内容质量 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46704"/>
            <a:ext cx="1600200" cy="32004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互动质量 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22192"/>
            <a:ext cx="1066799" cy="320040"/>
          </a:xfrm>
          <a:prstGeom prst="rect">
            <a:avLst/>
          </a:prstGeom>
          <a:solidFill>
            <a:srgbClr val="EE5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2"/>
            <a:ext cx="883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合作潜力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576072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D3"/>
                </a:solidFill>
                <a:latin typeface="Arial"/>
              </a:defRPr>
            </a:pPr>
            <a:r>
              <a:t>Tier 1 — 必须联系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103120"/>
            <a:ext cx="411480" cy="4114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214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Charlie Boy  @charlie.dior1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TikTok 1.7M  |  评分 4.70  |  平价vs高端对比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288036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898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Tom Sheard  @tomsheard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TikTok 1.2M  |  评分 4.65  |  街头穿搭教程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65760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6758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Tim Dessaint  @timdessaint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YouTube 1.1M  |  评分 4.60  |  极简风格指南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43484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453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D'nieccio  @dnieccio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TikTok 850K  |  评分 4.45  |  平价穿搭挑战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521208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230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#5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Rowan Row  @rowanrow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YouTube 1.8M  |  评分 4.35  |  生活方式+穿搭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发现成果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D3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77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位欧洲 KOL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D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577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个优先层级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D3"/>
                </a:solidFill>
                <a:latin typeface="Arial"/>
              </a:defRPr>
            </a:pPr>
            <a:r>
              <a:t>$50K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577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预算分配方案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1999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D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1999" y="5577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BDBD"/>
                </a:solidFill>
                <a:latin typeface="Arial"/>
              </a:defRPr>
            </a:pPr>
            <a:r>
              <a:t>个市场覆盖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 Activate 阶段 — 合作邮件外联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outreach-manager Skill 执行流程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个性化调研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研究 KOL 近期内容、风格、受众、</a:t>
            </a:r>
            <a:br/>
            <a:r>
              <a:t>价值观、自有品牌、过往合作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731520" cy="3657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邮件撰写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按框架结构：个性化开场 → 品牌介绍 →</a:t>
            </a:r>
            <a:br/>
            <a:r>
              <a:t>契合说明 → 合作构想 → 价值主张 → CTA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731520" cy="3657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多版本输出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26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正式邮件（英文）+ DM 简短版 +</a:t>
            </a:r>
            <a:br/>
            <a:r>
              <a:t>中文参考版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19"/>
            <a:ext cx="731520" cy="3657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03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跟进序列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623559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Arial"/>
              </a:defRPr>
            </a:pPr>
            <a:r>
              <a:t>第3天 / 第7天 / 第14天</a:t>
            </a:r>
            <a:br/>
            <a:r>
              <a:t>三封递进式跟进邮件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A4A"/>
                </a:solidFill>
                <a:latin typeface="Arial"/>
              </a:defRPr>
            </a:pPr>
            <a:r>
              <a:t>To: charleskeita24@gmail.com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Arial"/>
              </a:defRPr>
            </a:pPr>
            <a:r>
              <a:t>Subject: Charlie – Love your Affordable vs. Luxury series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057400"/>
            <a:ext cx="475488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A4A"/>
                </a:solidFill>
                <a:latin typeface="Arial"/>
              </a:defRPr>
            </a:pPr>
            <a:r>
              <a:t>Hi Charlie,</a:t>
            </a:r>
            <a:br/>
            <a:br/>
            <a:r>
              <a:t>I've been following your content and your</a:t>
            </a:r>
            <a:br/>
            <a:r>
              <a:t>"Affordable vs. Luxury" comparison videos</a:t>
            </a:r>
            <a:br/>
            <a:r>
              <a:t>are genuinely impressive...</a:t>
            </a:r>
            <a:br/>
            <a:br/>
            <a:r>
              <a:t>My name is Mai Jia, Overseas Operations</a:t>
            </a:r>
            <a:br/>
            <a:r>
              <a:t>Manager at SEMIR (森马)...</a:t>
            </a:r>
            <a:br/>
            <a:br/>
            <a:r>
              <a:t>Why you: Your content style is the perfect</a:t>
            </a:r>
            <a:br/>
            <a:r>
              <a:t>match for our brand story...</a:t>
            </a:r>
            <a:br/>
            <a:br/>
            <a:r>
              <a:t>What we offer:</a:t>
            </a:r>
            <a:br/>
            <a:r>
              <a:t>• Competitive compensation</a:t>
            </a:r>
            <a:br/>
            <a:r>
              <a:t>• Full SS26 collection</a:t>
            </a:r>
            <a:br/>
            <a:r>
              <a:t>• Exclusive discount code</a:t>
            </a:r>
            <a:br/>
            <a:r>
              <a:t>• Revenue share</a:t>
            </a:r>
            <a:br/>
            <a:r>
              <a:t>• Brand ambassador potential</a:t>
            </a:r>
            <a:br/>
            <a:br/>
            <a:r>
              <a:t>Best regards,</a:t>
            </a:r>
            <a:br/>
            <a:r>
              <a:t>Mai Jia | SEMIR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Skills 调用完整工作流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73736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用户输入任务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自然语言描述需求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645920"/>
            <a:ext cx="1737360" cy="1371600"/>
          </a:xfrm>
          <a:prstGeom prst="round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匹配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Claude 读取对应 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1737360" cy="137160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Task Agent 调研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网络搜索 + 数据收集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39" y="1645920"/>
            <a:ext cx="1737360" cy="13716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按模板输出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结构化报告 / 邮件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45920"/>
            <a:ext cx="1737360" cy="1371600"/>
          </a:xfrm>
          <a:prstGeom prst="round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用户审阅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确认或修改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BDB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1645920"/>
            <a:ext cx="1737360" cy="1371600"/>
          </a:xfrm>
          <a:prstGeom prst="roundRect">
            <a:avLst/>
          </a:prstGeom>
          <a:solidFill>
            <a:srgbClr val="EE5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执行动作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发送邮件 / 导出文档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Arial"/>
              </a:defRPr>
            </a:pPr>
            <a:r>
              <a:t>核心要点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23360"/>
            <a:ext cx="73152" cy="4572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Skills 是提示词模板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不是代码插件，是 Markdown 文档指导 Claude 的行为和输出结构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63440"/>
            <a:ext cx="73152" cy="4572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框架化输出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通过预定义的表格、评分模型、报告结构，确保输出专业且一致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03520"/>
            <a:ext cx="73152" cy="4572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可组合工作流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Insight → Map → Activate 多个 Skills 串联使用，形成完整营销链路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43599"/>
            <a:ext cx="73152" cy="45720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943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人机协作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435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Arial"/>
              </a:defRPr>
            </a:pPr>
            <a:r>
              <a:t>Claude 生成初稿，用户审阅修改，然后执行——人始终在回路中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06  成果总结与后续计划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Arial"/>
              </a:defRPr>
            </a:pPr>
            <a:r>
              <a:t>本次项目产出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4 份专业文档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Arial"/>
              </a:defRPr>
            </a:pPr>
            <a:r>
              <a:t>受众分析 + KOL排名 + 合作邮件 + 完整记录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17 位候选 KOL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63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Arial"/>
              </a:defRPr>
            </a:pPr>
            <a:r>
              <a:t>3 层级排名，5 维度评分，预算分配方案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首封合作邮件已发送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Arial"/>
              </a:defRPr>
            </a:pPr>
            <a:r>
              <a:t>Charlie Boy (评分4.70) 个性化邮件 + 跟进序列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18 个中文 Skill 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Arial"/>
              </a:defRPr>
            </a:pPr>
            <a:r>
              <a:t>IMPACT 框架全部翻译为 SKILL_CN.md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Arial"/>
              </a:defRPr>
            </a:pPr>
            <a:r>
              <a:t>后续计划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1. Plan 阶段：调用 campaign-planner 制定完整活动方案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2. Plan 阶段：调用 budget-optimizer 优化 $50K 预算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3. Plan 阶段：调用 brief-generator 为签约 KOL 生成创作简报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4. Activate 阶段：为 Tier 1 其余 4 位 KOL 批量发送邮件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5. Activate 阶段：调用 contract-helper 准备合作协议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6. Convert 阶段：内容发布后调用 content-amplifier 放大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7. Track 阶段：调用 roi-calculator + report-generator 评估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D3"/>
                </a:solidFill>
                <a:latin typeface="Arial"/>
              </a:defRPr>
            </a:pPr>
            <a:r>
              <a:t>Claude Code Skills — 让 AI 成为你的营销团队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03120" cy="457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  <a:latin typeface="Arial"/>
              </a:defRPr>
            </a:pPr>
            <a:r>
              <a:t>森马集团 · 海外运营部  |  Mai Jia  |  mmy222210@gmail.com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